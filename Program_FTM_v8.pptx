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28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Prezentare program de dezvoltare manageri middle – Financial Services. Slide de deschidere: subliniați că nu e un training clasic, ci un program de schimbare comportamentală cu impact măsurat.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 (ambiguitate) este competența de viitor integrată în fiecare modul — nu un modul separat. Esențial pentru banking 2025-2027: restructurări, reglementare, transformare digitală.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70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5BC2FC-86B2-1736-E211-424B416C88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171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Clasificare: Uz 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534AB7">
              <a:alpha val="30000"/>
            </a:srgbClr>
          </a:solidFill>
          <a:ln w="12700">
            <a:solidFill>
              <a:srgbClr val="534AB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182880"/>
            <a:ext cx="1828800" cy="1828800"/>
          </a:xfrm>
          <a:prstGeom prst="ellipse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0F6E5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0" y="3657600"/>
            <a:ext cx="2194560" cy="2194560"/>
          </a:xfrm>
          <a:prstGeom prst="ellipse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9728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 DEZVOLTARE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· Online · 4 luni · 15–20 participanți / cohortă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competențe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42062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luni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durată optimă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L4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măsurare impact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Obiectivele programului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competențe cheie · 3 comportamente-nucleu per modul · un fir roșu: eu → oamenii → performanța → presiunea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0446" y="1355925"/>
            <a:ext cx="4114800" cy="1300000"/>
          </a:xfrm>
          <a:prstGeom prst="roundRect">
            <a:avLst>
              <a:gd name="adj" fmla="val 5405"/>
            </a:avLst>
          </a:prstGeom>
          <a:solidFill>
            <a:srgbClr val="1E3060"/>
          </a:solidFill>
          <a:ln w="12700">
            <a:solidFill>
              <a:srgbClr val="2A3D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1111976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20" y="109826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8408" y="1103811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în noul rol · Self-management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DB24522-4D68-4A91-0DBF-F4D8BE3A7113}"/>
              </a:ext>
            </a:extLst>
          </p:cNvPr>
          <p:cNvGrpSpPr/>
          <p:nvPr/>
        </p:nvGrpSpPr>
        <p:grpSpPr>
          <a:xfrm>
            <a:off x="457200" y="1817043"/>
            <a:ext cx="3758184" cy="1111650"/>
            <a:chOff x="493776" y="2002536"/>
            <a:chExt cx="3758184" cy="1111650"/>
          </a:xfrm>
        </p:grpSpPr>
      </p:grpSp>
      <p:sp>
        <p:nvSpPr>
          <p:cNvPr id="15" name="Shape 13"/>
          <p:cNvSpPr/>
          <p:nvPr/>
        </p:nvSpPr>
        <p:spPr>
          <a:xfrm>
            <a:off x="4709160" y="1188720"/>
            <a:ext cx="4114800" cy="1700000"/>
          </a:xfrm>
          <a:prstGeom prst="roundRect">
            <a:avLst>
              <a:gd name="adj" fmla="val 5405"/>
            </a:avLst>
          </a:prstGeom>
          <a:solidFill>
            <a:srgbClr val="1E3060"/>
          </a:solidFill>
          <a:ln w="12700">
            <a:solidFill>
              <a:srgbClr val="2A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353312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353312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31536" y="13258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Oamenii cu care lucrez · Working with People</a:t>
            </a:r>
          </a:p>
        </p:txBody>
      </p:sp>
      <p:sp>
        <p:nvSpPr>
          <p:cNvPr id="26" name="Shape 24"/>
          <p:cNvSpPr/>
          <p:nvPr/>
        </p:nvSpPr>
        <p:spPr>
          <a:xfrm>
            <a:off x="230559" y="3207665"/>
            <a:ext cx="4114800" cy="1300000"/>
          </a:xfrm>
          <a:prstGeom prst="roundRect">
            <a:avLst>
              <a:gd name="adj" fmla="val 5405"/>
            </a:avLst>
          </a:prstGeom>
          <a:solidFill>
            <a:srgbClr val="1E3060"/>
          </a:solidFill>
          <a:ln w="12700">
            <a:solidFill>
              <a:srgbClr val="2A3D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97041" y="2950000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7333" y="29500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2955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Performanța prin oameni · Leading &amp; Supervising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A136342-6CCF-5372-AF5D-54EA2F5840E6}"/>
              </a:ext>
            </a:extLst>
          </p:cNvPr>
          <p:cNvGrpSpPr/>
          <p:nvPr/>
        </p:nvGrpSpPr>
        <p:grpSpPr>
          <a:xfrm>
            <a:off x="457200" y="3707892"/>
            <a:ext cx="3710504" cy="918972"/>
            <a:chOff x="541456" y="3877056"/>
            <a:chExt cx="3710504" cy="918972"/>
          </a:xfrm>
        </p:grpSpPr>
      </p:grpSp>
      <p:sp>
        <p:nvSpPr>
          <p:cNvPr id="37" name="Shape 35"/>
          <p:cNvSpPr/>
          <p:nvPr/>
        </p:nvSpPr>
        <p:spPr>
          <a:xfrm>
            <a:off x="4663440" y="3206032"/>
            <a:ext cx="4114800" cy="1300000"/>
          </a:xfrm>
          <a:prstGeom prst="roundRect">
            <a:avLst>
              <a:gd name="adj" fmla="val 5405"/>
            </a:avLst>
          </a:prstGeom>
          <a:solidFill>
            <a:srgbClr val="1E3060"/>
          </a:solidFill>
          <a:ln w="12700">
            <a:solidFill>
              <a:srgbClr val="2A3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47260" y="2950000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43777" y="29500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22748" y="2955000"/>
            <a:ext cx="3500628" cy="271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Echilibru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schimbare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Coping with Change Pressure</a:t>
            </a:r>
          </a:p>
        </p:txBody>
      </p:sp>
      <p:sp>
        <p:nvSpPr>
          <p:cNvPr id="2001" name="Objective Q0"/>
          <p:cNvSpPr/>
          <p:nvPr/>
        </p:nvSpPr>
        <p:spPr>
          <a:xfrm>
            <a:off x="530352" y="13950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50" dirty="0">
                <a:solidFill>
                  <a:srgbClr val="AAAACC"/>
                </a:solidFill>
                <a:latin typeface="Calibri" pitchFamily="34" charset="0"/>
              </a:rPr>
              <a:t>De la expert tehnic la coordonator de echipă.</a:t>
            </a:r>
          </a:p>
        </p:txBody>
      </p:sp>
      <p:sp>
        <p:nvSpPr>
          <p:cNvPr id="2002" name="Bullet Q0-0"/>
          <p:cNvSpPr/>
          <p:nvPr/>
        </p:nvSpPr>
        <p:spPr>
          <a:xfrm>
            <a:off x="594360" y="165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Distinge ce nu mai face ca expert de ce face ca manager</a:t>
            </a:r>
          </a:p>
        </p:txBody>
      </p:sp>
      <p:sp>
        <p:nvSpPr>
          <p:cNvPr id="2003" name="Bullet Q0-1"/>
          <p:cNvSpPr/>
          <p:nvPr/>
        </p:nvSpPr>
        <p:spPr>
          <a:xfrm>
            <a:off x="594360" y="187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Își observă tiparele de reacție și se autoreglează</a:t>
            </a:r>
          </a:p>
        </p:txBody>
      </p:sp>
      <p:sp>
        <p:nvSpPr>
          <p:cNvPr id="2005" name="Bullet Q0-3"/>
          <p:cNvSpPr/>
          <p:nvPr/>
        </p:nvSpPr>
        <p:spPr>
          <a:xfrm>
            <a:off x="594360" y="231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900" i="1" dirty="0">
                <a:solidFill>
                  <a:srgbClr val="8888AA"/>
                </a:solidFill>
                <a:latin typeface="Calibri" pitchFamily="34" charset="0"/>
              </a:rPr>
              <a:t>→ Ce schimb la mine ca să conduc prin oameni?</a:t>
            </a:r>
          </a:p>
        </p:txBody>
      </p:sp>
      <p:sp>
        <p:nvSpPr>
          <p:cNvPr id="2006" name="Objective Q1"/>
          <p:cNvSpPr/>
          <p:nvPr/>
        </p:nvSpPr>
        <p:spPr>
          <a:xfrm>
            <a:off x="4937760" y="1700000"/>
            <a:ext cx="338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50" dirty="0">
                <a:solidFill>
                  <a:srgbClr val="AAAACC"/>
                </a:solidFill>
                <a:latin typeface="Calibri" pitchFamily="34" charset="0"/>
              </a:rPr>
              <a:t>Își cunoaște oamenii și relațiile din jurul rolului.</a:t>
            </a:r>
          </a:p>
        </p:txBody>
      </p:sp>
      <p:sp>
        <p:nvSpPr>
          <p:cNvPr id="2007" name="Bullet Q1-0"/>
          <p:cNvSpPr/>
          <p:nvPr/>
        </p:nvSpPr>
        <p:spPr>
          <a:xfrm>
            <a:off x="4937760" y="1926489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Ascultă și întreabă înainte de a da soluții</a:t>
            </a:r>
          </a:p>
        </p:txBody>
      </p:sp>
      <p:sp>
        <p:nvSpPr>
          <p:cNvPr id="2008" name="Bullet Q1-1"/>
          <p:cNvSpPr/>
          <p:nvPr/>
        </p:nvSpPr>
        <p:spPr>
          <a:xfrm>
            <a:off x="4937760" y="2120624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Ipoteze despre motivația și blocajele fiecăruia</a:t>
            </a:r>
          </a:p>
        </p:txBody>
      </p:sp>
      <p:sp>
        <p:nvSpPr>
          <p:cNvPr id="2010" name="Bullet Q1-3"/>
          <p:cNvSpPr/>
          <p:nvPr/>
        </p:nvSpPr>
        <p:spPr>
          <a:xfrm>
            <a:off x="4937760" y="261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900" i="1" dirty="0">
                <a:solidFill>
                  <a:srgbClr val="8888AA"/>
                </a:solidFill>
                <a:latin typeface="Calibri" pitchFamily="34" charset="0"/>
              </a:rPr>
              <a:t>→ Cât de bine îi cunosc și ce conversații am cu ei?</a:t>
            </a:r>
          </a:p>
        </p:txBody>
      </p:sp>
      <p:sp>
        <p:nvSpPr>
          <p:cNvPr id="2011" name="Objective Q2"/>
          <p:cNvSpPr/>
          <p:nvPr/>
        </p:nvSpPr>
        <p:spPr>
          <a:xfrm>
            <a:off x="512717" y="32470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50" dirty="0">
                <a:solidFill>
                  <a:srgbClr val="AAAACC"/>
                </a:solidFill>
                <a:latin typeface="Calibri" pitchFamily="34" charset="0"/>
              </a:rPr>
              <a:t>Traduce așteptările în obiective clare și în feedback.</a:t>
            </a:r>
          </a:p>
        </p:txBody>
      </p:sp>
      <p:sp>
        <p:nvSpPr>
          <p:cNvPr id="2012" name="Bullet Q2-0"/>
          <p:cNvSpPr/>
          <p:nvPr/>
        </p:nvSpPr>
        <p:spPr>
          <a:xfrm>
            <a:off x="594360" y="350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Traduce așteptările în obiective clare</a:t>
            </a:r>
          </a:p>
        </p:txBody>
      </p:sp>
      <p:sp>
        <p:nvSpPr>
          <p:cNvPr id="2013" name="Bullet Q2-1"/>
          <p:cNvSpPr/>
          <p:nvPr/>
        </p:nvSpPr>
        <p:spPr>
          <a:xfrm>
            <a:off x="594360" y="372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Deleagă cu follow-up, fără să preia sarcina înapoi</a:t>
            </a:r>
          </a:p>
        </p:txBody>
      </p:sp>
      <p:sp>
        <p:nvSpPr>
          <p:cNvPr id="2014" name="Bullet Q2-2"/>
          <p:cNvSpPr/>
          <p:nvPr/>
        </p:nvSpPr>
        <p:spPr>
          <a:xfrm>
            <a:off x="594360" y="394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Ofera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f</a:t>
            </a: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eedback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sanatos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constructiv</a:t>
            </a:r>
            <a:endParaRPr lang="ro-RO" sz="10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sp>
        <p:nvSpPr>
          <p:cNvPr id="2015" name="Bullet Q2-3"/>
          <p:cNvSpPr/>
          <p:nvPr/>
        </p:nvSpPr>
        <p:spPr>
          <a:xfrm>
            <a:off x="594360" y="4160000"/>
            <a:ext cx="3657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900" i="1" dirty="0">
                <a:solidFill>
                  <a:srgbClr val="8888AA"/>
                </a:solidFill>
                <a:latin typeface="Calibri" pitchFamily="34" charset="0"/>
              </a:rPr>
              <a:t>→ Cum transform ce știu despre oameni în rezultate?</a:t>
            </a:r>
          </a:p>
        </p:txBody>
      </p:sp>
      <p:sp>
        <p:nvSpPr>
          <p:cNvPr id="2016" name="Objective Q3"/>
          <p:cNvSpPr/>
          <p:nvPr/>
        </p:nvSpPr>
        <p:spPr>
          <a:xfrm>
            <a:off x="4937760" y="3247000"/>
            <a:ext cx="338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o-RO" sz="1050" dirty="0">
              <a:solidFill>
                <a:srgbClr val="AAAACC"/>
              </a:solidFill>
              <a:latin typeface="Calibri" pitchFamily="34" charset="0"/>
            </a:endParaRPr>
          </a:p>
        </p:txBody>
      </p:sp>
      <p:sp>
        <p:nvSpPr>
          <p:cNvPr id="2017" name="Bullet Q3-0"/>
          <p:cNvSpPr/>
          <p:nvPr/>
        </p:nvSpPr>
        <p:spPr>
          <a:xfrm>
            <a:off x="4937760" y="350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recunoaste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la el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insusi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la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coechipieri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zona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emotionala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in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schimbare</a:t>
            </a:r>
            <a:endParaRPr lang="ro-RO" sz="10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sp>
        <p:nvSpPr>
          <p:cNvPr id="2018" name="Bullet Q3-1"/>
          <p:cNvSpPr/>
          <p:nvPr/>
        </p:nvSpPr>
        <p:spPr>
          <a:xfrm>
            <a:off x="4937760" y="372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normalizeaza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etapele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emotionale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ale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schimbarii</a:t>
            </a:r>
            <a:endParaRPr lang="ro-RO" sz="10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sp>
        <p:nvSpPr>
          <p:cNvPr id="2019" name="Bullet Q3-2"/>
          <p:cNvSpPr/>
          <p:nvPr/>
        </p:nvSpPr>
        <p:spPr>
          <a:xfrm>
            <a:off x="4937760" y="394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construieste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actiuni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pentru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rezilienta</a:t>
            </a:r>
            <a:endParaRPr lang="ro-RO" sz="10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sp>
        <p:nvSpPr>
          <p:cNvPr id="2020" name="Bullet Q3-3"/>
          <p:cNvSpPr/>
          <p:nvPr/>
        </p:nvSpPr>
        <p:spPr>
          <a:xfrm>
            <a:off x="4937760" y="416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900" i="1" dirty="0">
                <a:solidFill>
                  <a:srgbClr val="8888AA"/>
                </a:solidFill>
                <a:latin typeface="Calibri" pitchFamily="34" charset="0"/>
              </a:rPr>
              <a:t>→ Ce fac când apar presiunea, </a:t>
            </a:r>
            <a:r>
              <a:rPr lang="en-US" sz="900" i="1" dirty="0" err="1">
                <a:solidFill>
                  <a:srgbClr val="8888AA"/>
                </a:solidFill>
                <a:latin typeface="Calibri" pitchFamily="34" charset="0"/>
              </a:rPr>
              <a:t>schimbarea</a:t>
            </a:r>
            <a:r>
              <a:rPr lang="en-US" sz="900" i="1" dirty="0">
                <a:solidFill>
                  <a:srgbClr val="8888AA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8888AA"/>
                </a:solidFill>
                <a:latin typeface="Calibri" pitchFamily="34" charset="0"/>
              </a:rPr>
              <a:t>si</a:t>
            </a:r>
            <a:r>
              <a:rPr lang="en-US" sz="900" i="1" dirty="0">
                <a:solidFill>
                  <a:srgbClr val="8888AA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8888AA"/>
                </a:solidFill>
                <a:latin typeface="Calibri" pitchFamily="34" charset="0"/>
              </a:rPr>
              <a:t>incarcarea</a:t>
            </a:r>
            <a:r>
              <a:rPr lang="en-US" sz="900" i="1" dirty="0">
                <a:solidFill>
                  <a:srgbClr val="8888AA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8888AA"/>
                </a:solidFill>
                <a:latin typeface="Calibri" pitchFamily="34" charset="0"/>
              </a:rPr>
              <a:t>emotionala</a:t>
            </a:r>
            <a:r>
              <a:rPr lang="ro-RO" sz="900" i="1" dirty="0">
                <a:solidFill>
                  <a:srgbClr val="8888AA"/>
                </a:solidFill>
                <a:latin typeface="Calibri" pitchFamily="34" charset="0"/>
              </a:rPr>
              <a:t>?</a:t>
            </a:r>
          </a:p>
        </p:txBody>
      </p:sp>
      <p:sp>
        <p:nvSpPr>
          <p:cNvPr id="9" name="Bullet Q1-2">
            <a:extLst>
              <a:ext uri="{FF2B5EF4-FFF2-40B4-BE49-F238E27FC236}">
                <a16:creationId xmlns:a16="http://schemas.microsoft.com/office/drawing/2014/main" id="{7563DC81-C944-8754-CCAF-7EEDBC6C436B}"/>
              </a:ext>
            </a:extLst>
          </p:cNvPr>
          <p:cNvSpPr/>
          <p:nvPr/>
        </p:nvSpPr>
        <p:spPr>
          <a:xfrm>
            <a:off x="566928" y="2092386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Reașază relațiile: echipă, manager, colegi, alte dep.</a:t>
            </a:r>
          </a:p>
        </p:txBody>
      </p:sp>
      <p:sp>
        <p:nvSpPr>
          <p:cNvPr id="11" name="Bullet Q1-2">
            <a:extLst>
              <a:ext uri="{FF2B5EF4-FFF2-40B4-BE49-F238E27FC236}">
                <a16:creationId xmlns:a16="http://schemas.microsoft.com/office/drawing/2014/main" id="{27586E8E-F33D-2431-CF43-5644AD0AC6EF}"/>
              </a:ext>
            </a:extLst>
          </p:cNvPr>
          <p:cNvSpPr/>
          <p:nvPr/>
        </p:nvSpPr>
        <p:spPr>
          <a:xfrm>
            <a:off x="4937760" y="2390000"/>
            <a:ext cx="338436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Construieste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relații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de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incredere</a:t>
            </a:r>
            <a:r>
              <a:rPr lang="ro-RO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: echipă, manager, colegi, alte dep.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3000" b="1" dirty="0">
                <a:solidFill>
                  <a:srgbClr val="FFFFFF"/>
                </a:solidFill>
                <a:latin typeface="Calibri" pitchFamily="34" charset="0"/>
              </a:rPr>
              <a:t>Arhitectura pe 4 module</a:t>
            </a:r>
          </a:p>
        </p:txBody>
      </p:sp>
      <p:sp>
        <p:nvSpPr>
          <p:cNvPr id="51" name="Subtitle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300" dirty="0">
                <a:solidFill>
                  <a:srgbClr val="AAAACC"/>
                </a:solidFill>
                <a:latin typeface="Calibri" pitchFamily="34" charset="0"/>
              </a:rPr>
              <a:t>Competență SHL · 3 comportamente-nucleu · obiectiv de modul, per modul</a:t>
            </a:r>
          </a:p>
        </p:txBody>
      </p:sp>
      <p:sp>
        <p:nvSpPr>
          <p:cNvPr id="101" name="Card M1"/>
          <p:cNvSpPr/>
          <p:nvPr/>
        </p:nvSpPr>
        <p:spPr>
          <a:xfrm>
            <a:off x="457200" y="1150000"/>
            <a:ext cx="8229600" cy="880000"/>
          </a:xfrm>
          <a:prstGeom prst="roundRect">
            <a:avLst>
              <a:gd name="adj" fmla="val 6000"/>
            </a:avLst>
          </a:prstGeom>
          <a:solidFill>
            <a:srgbClr val="534AB7">
              <a:alpha val="10000"/>
            </a:srgbClr>
          </a:solidFill>
          <a:ln w="12700">
            <a:solidFill>
              <a:srgbClr val="534AB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02" name="Badge M1"/>
          <p:cNvSpPr/>
          <p:nvPr/>
        </p:nvSpPr>
        <p:spPr>
          <a:xfrm>
            <a:off x="548640" y="1380000"/>
            <a:ext cx="510000" cy="4200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M1</a:t>
            </a:r>
          </a:p>
        </p:txBody>
      </p:sp>
      <p:sp>
        <p:nvSpPr>
          <p:cNvPr id="103" name="Title M1"/>
          <p:cNvSpPr/>
          <p:nvPr/>
        </p:nvSpPr>
        <p:spPr>
          <a:xfrm>
            <a:off x="1080000" y="1270000"/>
            <a:ext cx="175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300" b="1" dirty="0">
                <a:solidFill>
                  <a:srgbClr val="FFFFFF"/>
                </a:solidFill>
                <a:latin typeface="Calibri" pitchFamily="34" charset="0"/>
              </a:rPr>
              <a:t>Eu în noul rol</a:t>
            </a:r>
          </a:p>
          <a:p>
            <a:pPr marL="0" indent="0">
              <a:buNone/>
            </a:pPr>
            <a:r>
              <a:rPr lang="ro-RO" sz="900" dirty="0">
                <a:solidFill>
                  <a:srgbClr val="534AB7"/>
                </a:solidFill>
                <a:latin typeface="Calibri" pitchFamily="34" charset="0"/>
              </a:rPr>
              <a:t>Self-management · C1</a:t>
            </a:r>
          </a:p>
        </p:txBody>
      </p:sp>
      <p:sp>
        <p:nvSpPr>
          <p:cNvPr id="104" name="Bullets M1"/>
          <p:cNvSpPr/>
          <p:nvPr/>
        </p:nvSpPr>
        <p:spPr>
          <a:xfrm>
            <a:off x="3050000" y="1240000"/>
            <a:ext cx="31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Distinge expertul de manager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Se observă și se autoreglează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Comunică explicit așteptările de rol</a:t>
            </a:r>
          </a:p>
        </p:txBody>
      </p:sp>
      <p:sp>
        <p:nvSpPr>
          <p:cNvPr id="105" name="Obiectiv M1"/>
          <p:cNvSpPr/>
          <p:nvPr/>
        </p:nvSpPr>
        <p:spPr>
          <a:xfrm>
            <a:off x="6320000" y="1240000"/>
            <a:ext cx="2366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i="1" dirty="0">
                <a:solidFill>
                  <a:srgbClr val="AAAACC"/>
                </a:solidFill>
                <a:latin typeface="Calibri" pitchFamily="34" charset="0"/>
              </a:rPr>
              <a:t>Își asumă explicit noul rol și își recunoaște propriile tipare de reacție.</a:t>
            </a:r>
          </a:p>
        </p:txBody>
      </p:sp>
      <p:sp>
        <p:nvSpPr>
          <p:cNvPr id="106" name="Card M2"/>
          <p:cNvSpPr/>
          <p:nvPr/>
        </p:nvSpPr>
        <p:spPr>
          <a:xfrm>
            <a:off x="457200" y="2100000"/>
            <a:ext cx="8229600" cy="880000"/>
          </a:xfrm>
          <a:prstGeom prst="roundRect">
            <a:avLst>
              <a:gd name="adj" fmla="val 6000"/>
            </a:avLst>
          </a:prstGeom>
          <a:solidFill>
            <a:srgbClr val="0F6E56">
              <a:alpha val="10000"/>
            </a:srgbClr>
          </a:solidFill>
          <a:ln w="12700">
            <a:solidFill>
              <a:srgbClr val="0F6E5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07" name="Badge M2"/>
          <p:cNvSpPr/>
          <p:nvPr/>
        </p:nvSpPr>
        <p:spPr>
          <a:xfrm>
            <a:off x="548640" y="2330000"/>
            <a:ext cx="510000" cy="42000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M2</a:t>
            </a:r>
          </a:p>
        </p:txBody>
      </p:sp>
      <p:sp>
        <p:nvSpPr>
          <p:cNvPr id="108" name="Title M2"/>
          <p:cNvSpPr/>
          <p:nvPr/>
        </p:nvSpPr>
        <p:spPr>
          <a:xfrm>
            <a:off x="1080000" y="2220000"/>
            <a:ext cx="175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300" b="1" dirty="0">
                <a:solidFill>
                  <a:srgbClr val="FFFFFF"/>
                </a:solidFill>
                <a:latin typeface="Calibri" pitchFamily="34" charset="0"/>
              </a:rPr>
              <a:t>Oamenii cu care lucrez</a:t>
            </a:r>
          </a:p>
          <a:p>
            <a:pPr marL="0" indent="0">
              <a:buNone/>
            </a:pPr>
            <a:r>
              <a:rPr lang="ro-RO" sz="900" dirty="0">
                <a:solidFill>
                  <a:srgbClr val="0F6E56"/>
                </a:solidFill>
                <a:latin typeface="Calibri" pitchFamily="34" charset="0"/>
              </a:rPr>
              <a:t>Working with People · C2</a:t>
            </a:r>
          </a:p>
        </p:txBody>
      </p:sp>
      <p:sp>
        <p:nvSpPr>
          <p:cNvPr id="109" name="Bullets M2"/>
          <p:cNvSpPr/>
          <p:nvPr/>
        </p:nvSpPr>
        <p:spPr>
          <a:xfrm>
            <a:off x="3050000" y="2190000"/>
            <a:ext cx="31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Ascultă înainte de a da soluții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Ipoteze despre motivație și blocaje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Reașază relațiile în toate direcțiile</a:t>
            </a:r>
          </a:p>
        </p:txBody>
      </p:sp>
      <p:sp>
        <p:nvSpPr>
          <p:cNvPr id="110" name="Obiectiv M2"/>
          <p:cNvSpPr/>
          <p:nvPr/>
        </p:nvSpPr>
        <p:spPr>
          <a:xfrm>
            <a:off x="6320000" y="2190000"/>
            <a:ext cx="2366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i="1" dirty="0">
                <a:solidFill>
                  <a:srgbClr val="AAAACC"/>
                </a:solidFill>
                <a:latin typeface="Calibri" pitchFamily="34" charset="0"/>
              </a:rPr>
              <a:t>Își cunoaște oamenii diferențiat și a purtat conversații reale cu ei.</a:t>
            </a:r>
          </a:p>
        </p:txBody>
      </p:sp>
      <p:sp>
        <p:nvSpPr>
          <p:cNvPr id="111" name="Card M3"/>
          <p:cNvSpPr/>
          <p:nvPr/>
        </p:nvSpPr>
        <p:spPr>
          <a:xfrm>
            <a:off x="457200" y="3050000"/>
            <a:ext cx="8229600" cy="880000"/>
          </a:xfrm>
          <a:prstGeom prst="roundRect">
            <a:avLst>
              <a:gd name="adj" fmla="val 6000"/>
            </a:avLst>
          </a:prstGeom>
          <a:solidFill>
            <a:srgbClr val="D85A30">
              <a:alpha val="10000"/>
            </a:srgbClr>
          </a:solidFill>
          <a:ln w="12700">
            <a:solidFill>
              <a:srgbClr val="D85A3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2" name="Badge M3"/>
          <p:cNvSpPr/>
          <p:nvPr/>
        </p:nvSpPr>
        <p:spPr>
          <a:xfrm>
            <a:off x="548640" y="3280000"/>
            <a:ext cx="510000" cy="42000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M3</a:t>
            </a:r>
          </a:p>
        </p:txBody>
      </p:sp>
      <p:sp>
        <p:nvSpPr>
          <p:cNvPr id="113" name="Title M3"/>
          <p:cNvSpPr/>
          <p:nvPr/>
        </p:nvSpPr>
        <p:spPr>
          <a:xfrm>
            <a:off x="1080000" y="3170000"/>
            <a:ext cx="175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300" b="1" dirty="0">
                <a:solidFill>
                  <a:srgbClr val="FFFFFF"/>
                </a:solidFill>
                <a:latin typeface="Calibri" pitchFamily="34" charset="0"/>
              </a:rPr>
              <a:t>Performanța prin oameni</a:t>
            </a:r>
          </a:p>
          <a:p>
            <a:pPr marL="0" indent="0">
              <a:buNone/>
            </a:pPr>
            <a:r>
              <a:rPr lang="ro-RO" sz="900" dirty="0">
                <a:solidFill>
                  <a:srgbClr val="D85A30"/>
                </a:solidFill>
                <a:latin typeface="Calibri" pitchFamily="34" charset="0"/>
              </a:rPr>
              <a:t>Leading &amp; Supervising · C3</a:t>
            </a:r>
          </a:p>
        </p:txBody>
      </p:sp>
      <p:sp>
        <p:nvSpPr>
          <p:cNvPr id="114" name="Bullets M3"/>
          <p:cNvSpPr/>
          <p:nvPr/>
        </p:nvSpPr>
        <p:spPr>
          <a:xfrm>
            <a:off x="3050000" y="3140000"/>
            <a:ext cx="31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Obiective clare și verificabile (OKR)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Delegare cu follow-up, fără preluare</a:t>
            </a:r>
          </a:p>
          <a:p>
            <a:pPr marL="114300" indent="-114300">
              <a:buFont typeface="Arial"/>
              <a:buChar char="•"/>
            </a:pPr>
            <a:r>
              <a:rPr lang="ro-RO" sz="900" dirty="0">
                <a:solidFill>
                  <a:srgbClr val="CCCCEE"/>
                </a:solidFill>
                <a:latin typeface="Calibri" pitchFamily="34" charset="0"/>
              </a:rPr>
              <a:t>Feedback SBI + discuție dificilă</a:t>
            </a:r>
          </a:p>
        </p:txBody>
      </p:sp>
      <p:sp>
        <p:nvSpPr>
          <p:cNvPr id="115" name="Obiectiv M3"/>
          <p:cNvSpPr/>
          <p:nvPr/>
        </p:nvSpPr>
        <p:spPr>
          <a:xfrm>
            <a:off x="6320000" y="3140000"/>
            <a:ext cx="2366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i="1" dirty="0">
                <a:solidFill>
                  <a:srgbClr val="AAAACC"/>
                </a:solidFill>
                <a:latin typeface="Calibri" pitchFamily="34" charset="0"/>
              </a:rPr>
              <a:t>Traduce așteptările în obiective clare, validate de managerul direct.</a:t>
            </a:r>
          </a:p>
        </p:txBody>
      </p:sp>
      <p:sp>
        <p:nvSpPr>
          <p:cNvPr id="116" name="Card M4"/>
          <p:cNvSpPr/>
          <p:nvPr/>
        </p:nvSpPr>
        <p:spPr>
          <a:xfrm>
            <a:off x="457200" y="4000000"/>
            <a:ext cx="8229600" cy="880000"/>
          </a:xfrm>
          <a:prstGeom prst="roundRect">
            <a:avLst>
              <a:gd name="adj" fmla="val 6000"/>
            </a:avLst>
          </a:prstGeom>
          <a:solidFill>
            <a:srgbClr val="BA7517">
              <a:alpha val="10000"/>
            </a:srgbClr>
          </a:solidFill>
          <a:ln w="12700">
            <a:solidFill>
              <a:srgbClr val="BA751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7" name="Badge M4"/>
          <p:cNvSpPr/>
          <p:nvPr/>
        </p:nvSpPr>
        <p:spPr>
          <a:xfrm>
            <a:off x="548640" y="4230000"/>
            <a:ext cx="510000" cy="42000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M4</a:t>
            </a:r>
          </a:p>
        </p:txBody>
      </p:sp>
      <p:sp>
        <p:nvSpPr>
          <p:cNvPr id="118" name="Title M4"/>
          <p:cNvSpPr/>
          <p:nvPr/>
        </p:nvSpPr>
        <p:spPr>
          <a:xfrm>
            <a:off x="1080000" y="4120000"/>
            <a:ext cx="185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Echilibru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schimbare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Coping with Change Pressure</a:t>
            </a:r>
          </a:p>
          <a:p>
            <a:pPr marL="0" indent="0">
              <a:buNone/>
            </a:pPr>
            <a:r>
              <a:rPr lang="ro-RO" sz="900" dirty="0">
                <a:solidFill>
                  <a:srgbClr val="BA7517"/>
                </a:solidFill>
                <a:latin typeface="Calibri" pitchFamily="34" charset="0"/>
              </a:rPr>
              <a:t>Coping with </a:t>
            </a:r>
            <a:r>
              <a:rPr lang="en-US" sz="900" dirty="0">
                <a:solidFill>
                  <a:srgbClr val="BA7517"/>
                </a:solidFill>
                <a:latin typeface="Calibri" pitchFamily="34" charset="0"/>
              </a:rPr>
              <a:t>Change </a:t>
            </a:r>
            <a:r>
              <a:rPr lang="ro-RO" sz="900" dirty="0">
                <a:solidFill>
                  <a:srgbClr val="BA7517"/>
                </a:solidFill>
                <a:latin typeface="Calibri" pitchFamily="34" charset="0"/>
              </a:rPr>
              <a:t>Pressure · C4</a:t>
            </a:r>
          </a:p>
        </p:txBody>
      </p:sp>
      <p:sp>
        <p:nvSpPr>
          <p:cNvPr id="119" name="Bullets M4"/>
          <p:cNvSpPr/>
          <p:nvPr/>
        </p:nvSpPr>
        <p:spPr>
          <a:xfrm>
            <a:off x="3050000" y="4090000"/>
            <a:ext cx="31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recunoaste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la el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insusi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si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la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coechipieri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zona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emotionala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in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schimbare</a:t>
            </a:r>
            <a:endParaRPr lang="ro-RO" sz="9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r>
              <a:rPr lang="ro-RO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normalizeaza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etapele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emotionale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ale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schimbarii</a:t>
            </a:r>
            <a:endParaRPr lang="ro-RO" sz="9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r>
              <a:rPr lang="ro-RO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·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construieste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actiuni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pentru</a:t>
            </a:r>
            <a:r>
              <a:rPr lang="en-US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rezilienta</a:t>
            </a:r>
            <a:endParaRPr lang="ro-RO" sz="900" dirty="0">
              <a:solidFill>
                <a:schemeClr val="accent1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sp>
        <p:nvSpPr>
          <p:cNvPr id="120" name="Obiectiv M4"/>
          <p:cNvSpPr/>
          <p:nvPr/>
        </p:nvSpPr>
        <p:spPr>
          <a:xfrm>
            <a:off x="6320000" y="4090000"/>
            <a:ext cx="2366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Recunoaste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dimensiunea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emotionala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propie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a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echipei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o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transforma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in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directie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900" i="1" dirty="0" err="1">
                <a:solidFill>
                  <a:srgbClr val="AAAACC"/>
                </a:solidFill>
                <a:latin typeface="Calibri" pitchFamily="34" charset="0"/>
              </a:rPr>
              <a:t>rezilienta</a:t>
            </a:r>
            <a:r>
              <a:rPr lang="en-US" sz="900" i="1" dirty="0">
                <a:solidFill>
                  <a:srgbClr val="AAAACC"/>
                </a:solidFill>
                <a:latin typeface="Calibri" pitchFamily="34" charset="0"/>
              </a:rPr>
              <a:t>.</a:t>
            </a:r>
            <a:endParaRPr lang="ro-RO" sz="900" i="1" dirty="0">
              <a:solidFill>
                <a:srgbClr val="AAAACC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4630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Modulului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concret: Modulul 1 · Eu în noul rol · 4 săptămâni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6252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57400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2h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67328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2–3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67328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+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6108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77256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7256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· 2h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46036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87184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184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87184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modul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536192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16200000">
            <a:off x="-133096" y="1588516"/>
            <a:ext cx="5623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tranzitia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expert la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Chestionar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SHL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057400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30552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facilitator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tranziției în 4 etape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Exercițiu: harta propriei tranziții</a:t>
            </a:r>
          </a:p>
        </p:txBody>
      </p:sp>
      <p:sp>
        <p:nvSpPr>
          <p:cNvPr id="29" name="Shape 27"/>
          <p:cNvSpPr/>
          <p:nvPr/>
        </p:nvSpPr>
        <p:spPr>
          <a:xfrm>
            <a:off x="3767328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1F5EE"/>
          </a:solidFill>
          <a:ln w="12700">
            <a:solidFill>
              <a:srgbClr val="5DCA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Aplici o conversație reală de "reset" cu un fost coleg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Exersezi 2 scenarii în agentul AI</a:t>
            </a:r>
          </a:p>
        </p:txBody>
      </p:sp>
      <p:sp>
        <p:nvSpPr>
          <p:cNvPr id="31" name="Shape 29"/>
          <p:cNvSpPr/>
          <p:nvPr/>
        </p:nvSpPr>
        <p:spPr>
          <a:xfrm>
            <a:off x="5477256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CE7"/>
          </a:solidFill>
          <a:ln w="12700">
            <a:solidFill>
              <a:srgbClr val="F099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0408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Debriefezi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reală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planul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tranziție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87184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EDA"/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0336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Prezinți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planul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tranziție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(90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managerului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Clarificați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2-3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așteptări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concrete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2432304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16200000">
            <a:off x="-123444" y="242976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7472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citit despre tranziție, dar nu știu cum arată la mine concret."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57400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30552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"Harta mea are 4 etape. Sunt încă la etapa 1 — conștientizare."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67328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DF8F4"/>
          </a:solidFill>
          <a:ln w="12700">
            <a:solidFill>
              <a:srgbClr val="5DCAA5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vorbit cu Bogdan, fostul meu coleg. Am ascultat mai mult decât am vorbit."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77256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DF3EE"/>
          </a:solidFill>
          <a:ln w="12700">
            <a:solidFill>
              <a:srgbClr val="F0997B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0408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"Colegii mi-au arătat că amân clarificarea așteptărilor. Exersez asta acum."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87184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EF8EF"/>
          </a:solidFill>
          <a:ln w="12700">
            <a:solidFill>
              <a:srgbClr val="EF9F27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60336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"I-am arătat planul managerei mele. Am clarificat ce așteaptă de la mine."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3328416"/>
            <a:ext cx="301752" cy="54864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 rot="16200000">
            <a:off x="-96012" y="333756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0624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57400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30552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 tranziției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67328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0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documentată + 2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simulări AI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77256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50408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tranziție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87184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60336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90 zile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 de manager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" y="3959352"/>
            <a:ext cx="8412480" cy="438912"/>
          </a:xfrm>
          <a:prstGeom prst="roundRect">
            <a:avLst>
              <a:gd name="adj" fmla="val 1458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3959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 cheie: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workshop-ul nu e evenimentul principal —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conversația de reset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evenimentul principal. Peer coaching există ca să înveți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ce s-a întâmplat real.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554480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Pregătire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61488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44368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51376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334256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Practică+AI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41264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CE7"/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724144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31152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EDA"/>
          </a:solidFill>
          <a:ln w="12700">
            <a:solidFill>
              <a:srgbClr val="BA75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14032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4630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Modulului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concret: Modulul 2 · Oamenii cu care lucrez · 4 săptămâni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6252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57400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2h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67328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2–3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67328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+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6108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77256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7256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· 2h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46036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87184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184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87184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modul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536192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16200000">
            <a:off x="-112014" y="1520190"/>
            <a:ext cx="5257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1572768"/>
            <a:ext cx="16322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ascultare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incredere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Noteaza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știi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 nu știi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dpdv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</a:t>
            </a:r>
          </a:p>
        </p:txBody>
      </p:sp>
      <p:sp>
        <p:nvSpPr>
          <p:cNvPr id="27" name="Shape 25"/>
          <p:cNvSpPr/>
          <p:nvPr/>
        </p:nvSpPr>
        <p:spPr>
          <a:xfrm>
            <a:off x="2057400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02536" y="157276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facilitator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oamenilor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Exercitiu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analizei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modalitati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crestere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motivatiei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67328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1F5EE"/>
          </a:solidFill>
          <a:ln w="12700">
            <a:solidFill>
              <a:srgbClr val="5DCA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Porți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1:1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din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motivatiile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lor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Exersezi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agentul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</a:p>
        </p:txBody>
      </p:sp>
      <p:sp>
        <p:nvSpPr>
          <p:cNvPr id="31" name="Shape 29"/>
          <p:cNvSpPr/>
          <p:nvPr/>
        </p:nvSpPr>
        <p:spPr>
          <a:xfrm>
            <a:off x="5477256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CE7"/>
          </a:solidFill>
          <a:ln w="12700">
            <a:solidFill>
              <a:srgbClr val="F099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0408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Debriefezi conversațiile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pe ce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n-ai reușit să auzi</a:t>
            </a:r>
          </a:p>
        </p:txBody>
      </p:sp>
      <p:sp>
        <p:nvSpPr>
          <p:cNvPr id="33" name="Shape 31"/>
          <p:cNvSpPr/>
          <p:nvPr/>
        </p:nvSpPr>
        <p:spPr>
          <a:xfrm>
            <a:off x="7187184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EDA"/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0336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cu facilitator: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ai aflat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motivarea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lor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Managerul + managerul direct.</a:t>
            </a:r>
          </a:p>
        </p:txBody>
      </p:sp>
      <p:sp>
        <p:nvSpPr>
          <p:cNvPr id="35" name="Shape 33"/>
          <p:cNvSpPr/>
          <p:nvPr/>
        </p:nvSpPr>
        <p:spPr>
          <a:xfrm>
            <a:off x="0" y="2432304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16200000">
            <a:off x="-112014" y="2398014"/>
            <a:ext cx="5257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7472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"Despre Andrei stiu ce livreaza. Nu stiu ce il tine pe loc."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57400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30552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 Alina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foarte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entuziasta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primeste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propuneri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implicare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proiecte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</a:t>
            </a: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67328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DF8F4"/>
          </a:solidFill>
          <a:ln w="12700">
            <a:solidFill>
              <a:srgbClr val="5DCAA5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vorbit cu Andrei. A iesit ca nu are claritate pe rol, nu ca nu vrea."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77256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DF3EE"/>
          </a:solidFill>
          <a:ln w="12700">
            <a:solidFill>
              <a:srgbClr val="F0997B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0408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"Grupul m-a ajutat sa vad ca nu intreb niciodata: ce te tine pe loc?"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87184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EF8EF"/>
          </a:solidFill>
          <a:ln w="12700">
            <a:solidFill>
              <a:srgbClr val="EF9F27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60336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 </a:t>
            </a:r>
            <a:r>
              <a:rPr lang="en-US" sz="800" i="1" dirty="0" err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managerul</a:t>
            </a:r>
            <a:r>
              <a:rPr lang="en-US" sz="8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 stabilit ce discut cu Oana - relatia de acolo blocheaza echipa."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3328416"/>
            <a:ext cx="301752" cy="54864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 rot="16200000">
            <a:off x="-82296" y="328904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0624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știu / ce nu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despre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oamenii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motivational</a:t>
            </a:r>
          </a:p>
        </p:txBody>
      </p:sp>
      <p:sp>
        <p:nvSpPr>
          <p:cNvPr id="51" name="Shape 49"/>
          <p:cNvSpPr/>
          <p:nvPr/>
        </p:nvSpPr>
        <p:spPr>
          <a:xfrm>
            <a:off x="2057400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30552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motivatiei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echipei</a:t>
            </a: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mele (draft)</a:t>
            </a:r>
          </a:p>
        </p:txBody>
      </p:sp>
      <p:sp>
        <p:nvSpPr>
          <p:cNvPr id="53" name="Shape 51"/>
          <p:cNvSpPr/>
          <p:nvPr/>
        </p:nvSpPr>
        <p:spPr>
          <a:xfrm>
            <a:off x="3767328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0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conversații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documentate + 2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simulări AI</a:t>
            </a:r>
          </a:p>
        </p:txBody>
      </p:sp>
      <p:sp>
        <p:nvSpPr>
          <p:cNvPr id="55" name="Shape 53"/>
          <p:cNvSpPr/>
          <p:nvPr/>
        </p:nvSpPr>
        <p:spPr>
          <a:xfrm>
            <a:off x="5477256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50408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am de întrebat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viitoare</a:t>
            </a:r>
          </a:p>
        </p:txBody>
      </p:sp>
      <p:sp>
        <p:nvSpPr>
          <p:cNvPr id="57" name="Shape 55"/>
          <p:cNvSpPr/>
          <p:nvPr/>
        </p:nvSpPr>
        <p:spPr>
          <a:xfrm>
            <a:off x="7187184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60336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</a:t>
            </a: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00" b="1" dirty="0" err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motivatiei</a:t>
            </a: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echipei</a:t>
            </a: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mele </a:t>
            </a:r>
          </a:p>
        </p:txBody>
      </p:sp>
      <p:sp>
        <p:nvSpPr>
          <p:cNvPr id="59" name="Shape 57"/>
          <p:cNvSpPr/>
          <p:nvPr/>
        </p:nvSpPr>
        <p:spPr>
          <a:xfrm>
            <a:off x="347472" y="3959352"/>
            <a:ext cx="8412480" cy="438912"/>
          </a:xfrm>
          <a:prstGeom prst="roundRect">
            <a:avLst>
              <a:gd name="adj" fmla="val 1458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3959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 cheie: workshop-ul nu e evenimentul principal — conversația reală cu omul tău e evenimentul principal. Peer coaching există ca să înveți din ce s-a întâmplat real.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554480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Pregătire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61488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44368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51376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334256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Practică+AI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41264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CE7"/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724144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31152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EDA"/>
          </a:solidFill>
          <a:ln w="12700">
            <a:solidFill>
              <a:srgbClr val="BA75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14032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4630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Modulului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concret: Modulul 3 · Performanța prin oameni · 4 săptămâni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6252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57400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2h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67328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2–3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67328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+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6108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77256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7256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· 2h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46036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87184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184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87184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modul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536192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16200000">
            <a:off x="-112014" y="1520698"/>
            <a:ext cx="5257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feedback (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SBI), OKR,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delegare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Notezi 3 situații de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neexprimat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57400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30552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facilitator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+ feedback SBI +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delegare cu follow-up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Exercițiu: scrii un OKR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 pentru echipa ta</a:t>
            </a:r>
          </a:p>
        </p:txBody>
      </p:sp>
      <p:sp>
        <p:nvSpPr>
          <p:cNvPr id="29" name="Shape 27"/>
          <p:cNvSpPr/>
          <p:nvPr/>
        </p:nvSpPr>
        <p:spPr>
          <a:xfrm>
            <a:off x="3767328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1F5EE"/>
          </a:solidFill>
          <a:ln w="12700">
            <a:solidFill>
              <a:srgbClr val="5DCA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67328" y="157276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din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Exersezi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</a:p>
        </p:txBody>
      </p:sp>
      <p:sp>
        <p:nvSpPr>
          <p:cNvPr id="31" name="Shape 29"/>
          <p:cNvSpPr/>
          <p:nvPr/>
        </p:nvSpPr>
        <p:spPr>
          <a:xfrm>
            <a:off x="5477256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CE7"/>
          </a:solidFill>
          <a:ln w="12700">
            <a:solidFill>
              <a:srgbClr val="F099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0408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Debriefezi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discutiile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avute</a:t>
            </a: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87184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EDA"/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0336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Prezinți planul OKR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managerului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Aliniați OKR-ul cu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obiectivele de</a:t>
            </a:r>
            <a:endParaRPr lang="en-US" sz="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2432304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16200000">
            <a:off x="-136652" y="2432304"/>
            <a:ext cx="5623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7472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3 situații unde ar fi trebuit să dau feedback și n-am făcut-o."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57400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30552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"OKR-ul meu suna vag. L-am rescris ca să fie măsurabil."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67328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DF8F4"/>
          </a:solidFill>
          <a:ln w="12700">
            <a:solidFill>
              <a:srgbClr val="5DCAA5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"I-am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detaliat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Mariei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obiectivele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rezultatele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asteptate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rezultatele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echipei</a:t>
            </a: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77256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DF3EE"/>
          </a:solidFill>
          <a:ln w="12700">
            <a:solidFill>
              <a:srgbClr val="F0997B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0408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"Grupul m-a ajutat să văd că evit discuția cu Radu de o lună."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87184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EF8EF"/>
          </a:solidFill>
          <a:ln w="12700">
            <a:solidFill>
              <a:srgbClr val="EF9F27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60336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"Managerul a zis că OKR-ul e clar, dar nealineat. Am ajustat."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3328416"/>
            <a:ext cx="301752" cy="54864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 rot="16200000">
            <a:off x="-112014" y="3311398"/>
            <a:ext cx="516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0624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situații notate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57400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30552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de echipă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(draft)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67328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0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</a:t>
            </a: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trasate</a:t>
            </a:r>
            <a:endParaRPr lang="en-US" sz="900" b="1" dirty="0">
              <a:solidFill>
                <a:srgbClr val="0F6E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simulări AI</a:t>
            </a:r>
          </a:p>
        </p:txBody>
      </p:sp>
      <p:sp>
        <p:nvSpPr>
          <p:cNvPr id="55" name="Shape 53"/>
          <p:cNvSpPr/>
          <p:nvPr/>
        </p:nvSpPr>
        <p:spPr>
          <a:xfrm>
            <a:off x="5477256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50408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pentru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 err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discuția</a:t>
            </a: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dificilă</a:t>
            </a: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b="1" dirty="0" err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incluzand</a:t>
            </a: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SBI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87184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60336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de echipă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 de manager</a:t>
            </a:r>
          </a:p>
        </p:txBody>
      </p:sp>
      <p:sp>
        <p:nvSpPr>
          <p:cNvPr id="59" name="Shape 57"/>
          <p:cNvSpPr/>
          <p:nvPr/>
        </p:nvSpPr>
        <p:spPr>
          <a:xfrm>
            <a:off x="347472" y="3959352"/>
            <a:ext cx="8412480" cy="438912"/>
          </a:xfrm>
          <a:prstGeom prst="roundRect">
            <a:avLst>
              <a:gd name="adj" fmla="val 1458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3959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 cheie: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workshop-ul nu e evenimentul principal —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feedback-ul real dat în echipă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evenimentul principal. Peer coaching există ca să înveți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ce s-a întâmplat real.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554480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Pregătire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61488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44368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51376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334256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Practică+AI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41264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CE7"/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724144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31152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EDA"/>
          </a:solidFill>
          <a:ln w="12700">
            <a:solidFill>
              <a:srgbClr val="BA75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14032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4630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Modulului 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concret: Modulul 4 · Păstrarea direcției sub presiune · 4 săptămâni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6252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57400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2h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67328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2–3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67328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+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6108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77256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7256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 · 2h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46036" y="1179576"/>
            <a:ext cx="36576" cy="0"/>
          </a:xfrm>
          <a:prstGeom prst="line">
            <a:avLst/>
          </a:prstGeom>
          <a:noFill/>
          <a:ln w="12700">
            <a:solidFill>
              <a:srgbClr val="6B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87184" y="914400"/>
            <a:ext cx="1664208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184" y="93268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Săpt. 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87184" y="1097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modul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536192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16200000">
            <a:off x="-121158" y="1476756"/>
            <a:ext cx="5440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900" dirty="0" err="1"/>
              <a:t>Citește</a:t>
            </a:r>
            <a:r>
              <a:rPr lang="en-US" sz="900" dirty="0"/>
              <a:t> </a:t>
            </a:r>
            <a:r>
              <a:rPr lang="en-US" sz="900" dirty="0" err="1"/>
              <a:t>scurt</a:t>
            </a:r>
            <a:r>
              <a:rPr lang="en-US" sz="900" dirty="0"/>
              <a:t> </a:t>
            </a:r>
            <a:r>
              <a:rPr lang="en-US" sz="900" dirty="0" err="1"/>
              <a:t>despre</a:t>
            </a:r>
            <a:r>
              <a:rPr lang="en-US" sz="900" dirty="0"/>
              <a:t> </a:t>
            </a:r>
            <a:r>
              <a:rPr lang="en-US" sz="900" dirty="0" err="1"/>
              <a:t>cele</a:t>
            </a:r>
            <a:r>
              <a:rPr lang="en-US" sz="900" dirty="0"/>
              <a:t> 4 zone </a:t>
            </a:r>
            <a:r>
              <a:rPr lang="en-US" sz="900" dirty="0" err="1"/>
              <a:t>emoționale</a:t>
            </a:r>
            <a:r>
              <a:rPr lang="en-US" sz="900" dirty="0"/>
              <a:t> </a:t>
            </a:r>
            <a:r>
              <a:rPr lang="en-US" sz="900" dirty="0" err="1"/>
              <a:t>în</a:t>
            </a:r>
            <a:r>
              <a:rPr lang="en-US" sz="900" dirty="0"/>
              <a:t> </a:t>
            </a:r>
            <a:r>
              <a:rPr lang="en-US" sz="900" dirty="0" err="1"/>
              <a:t>schimbare</a:t>
            </a:r>
            <a:r>
              <a:rPr lang="en-US" sz="900" dirty="0"/>
              <a:t> (15 min) + </a:t>
            </a:r>
            <a:r>
              <a:rPr lang="en-US" sz="900" dirty="0" err="1"/>
              <a:t>notează</a:t>
            </a:r>
            <a:r>
              <a:rPr lang="en-US" sz="900" dirty="0"/>
              <a:t> un moment recent de </a:t>
            </a:r>
            <a:r>
              <a:rPr lang="en-US" sz="900" dirty="0" err="1"/>
              <a:t>schimbare</a:t>
            </a:r>
            <a:r>
              <a:rPr lang="en-US" sz="900" dirty="0"/>
              <a:t> </a:t>
            </a:r>
            <a:r>
              <a:rPr lang="en-US" sz="900" dirty="0" err="1"/>
              <a:t>trăit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57400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EEDFE"/>
          </a:solidFill>
          <a:ln w="12700">
            <a:solidFill>
              <a:srgbClr val="AFA9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30552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facilitator</a:t>
            </a:r>
          </a:p>
          <a:p>
            <a:pPr>
              <a:lnSpc>
                <a:spcPct val="110000"/>
              </a:lnSpc>
            </a:pPr>
            <a:r>
              <a:rPr lang="en-US" sz="900" dirty="0" err="1"/>
              <a:t>Harta</a:t>
            </a:r>
            <a:r>
              <a:rPr lang="en-US" sz="900" dirty="0"/>
              <a:t> </a:t>
            </a:r>
            <a:r>
              <a:rPr lang="en-US" sz="900" dirty="0" err="1"/>
              <a:t>emoțională</a:t>
            </a:r>
            <a:r>
              <a:rPr lang="en-US" sz="900" dirty="0"/>
              <a:t> (individual + </a:t>
            </a:r>
            <a:r>
              <a:rPr lang="en-US" sz="900" dirty="0" err="1"/>
              <a:t>grup</a:t>
            </a:r>
            <a:r>
              <a:rPr lang="en-US" sz="900" dirty="0"/>
              <a:t>) + </a:t>
            </a:r>
            <a:r>
              <a:rPr lang="en-US" sz="900" dirty="0" err="1"/>
              <a:t>normalizare</a:t>
            </a:r>
            <a:r>
              <a:rPr lang="en-US" sz="900" dirty="0"/>
              <a:t> + </a:t>
            </a:r>
            <a:r>
              <a:rPr lang="en-US" sz="900" dirty="0" err="1"/>
              <a:t>exercițiu</a:t>
            </a:r>
            <a:r>
              <a:rPr lang="en-US" sz="900" dirty="0"/>
              <a:t> de </a:t>
            </a:r>
            <a:r>
              <a:rPr lang="en-US" sz="900" dirty="0" err="1"/>
              <a:t>recunoaștere</a:t>
            </a:r>
            <a:r>
              <a:rPr lang="en-US" sz="900" dirty="0"/>
              <a:t> a </a:t>
            </a:r>
            <a:r>
              <a:rPr lang="en-US" sz="900" dirty="0" err="1"/>
              <a:t>zonei</a:t>
            </a:r>
            <a:r>
              <a:rPr lang="en-US" sz="900" dirty="0"/>
              <a:t> </a:t>
            </a:r>
            <a:r>
              <a:rPr lang="en-US" sz="900" dirty="0" err="1"/>
              <a:t>echipei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67328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1F5EE"/>
          </a:solidFill>
          <a:ln w="12700">
            <a:solidFill>
              <a:srgbClr val="5DCA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900" dirty="0" err="1"/>
              <a:t>Aplică</a:t>
            </a:r>
            <a:r>
              <a:rPr lang="en-US" sz="900" dirty="0"/>
              <a:t> un check-in </a:t>
            </a:r>
            <a:r>
              <a:rPr lang="en-US" sz="900" dirty="0" err="1"/>
              <a:t>emoțional</a:t>
            </a:r>
            <a:r>
              <a:rPr lang="en-US" sz="900" dirty="0"/>
              <a:t> real cu </a:t>
            </a:r>
            <a:r>
              <a:rPr lang="en-US" sz="900" dirty="0" err="1"/>
              <a:t>echipa</a:t>
            </a:r>
            <a:r>
              <a:rPr lang="en-US" sz="900" dirty="0"/>
              <a:t> + 2 </a:t>
            </a:r>
            <a:r>
              <a:rPr lang="en-US" sz="900" dirty="0" err="1"/>
              <a:t>scenarii</a:t>
            </a:r>
            <a:r>
              <a:rPr lang="en-US" sz="900" dirty="0"/>
              <a:t> AI de </a:t>
            </a:r>
            <a:r>
              <a:rPr lang="en-US" sz="900" dirty="0" err="1"/>
              <a:t>exersat</a:t>
            </a:r>
            <a:r>
              <a:rPr lang="en-US" sz="900" dirty="0"/>
              <a:t> </a:t>
            </a:r>
            <a:r>
              <a:rPr lang="en-US" sz="900" dirty="0" err="1"/>
              <a:t>conversații</a:t>
            </a:r>
            <a:r>
              <a:rPr lang="en-US" sz="900" dirty="0"/>
              <a:t> </a:t>
            </a:r>
            <a:r>
              <a:rPr lang="en-US" sz="900" dirty="0" err="1"/>
              <a:t>despre</a:t>
            </a:r>
            <a:r>
              <a:rPr lang="en-US" sz="900" dirty="0"/>
              <a:t> stare </a:t>
            </a:r>
            <a:r>
              <a:rPr lang="en-US" sz="900" dirty="0" err="1"/>
              <a:t>emoțională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77256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CE7"/>
          </a:solidFill>
          <a:ln w="12700">
            <a:solidFill>
              <a:srgbClr val="F099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0408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900" dirty="0"/>
              <a:t>Debrief pe check-in-ul real: </a:t>
            </a:r>
            <a:r>
              <a:rPr lang="en-US" sz="900" dirty="0" err="1"/>
              <a:t>ce</a:t>
            </a:r>
            <a:r>
              <a:rPr lang="en-US" sz="900" dirty="0"/>
              <a:t> a </a:t>
            </a:r>
            <a:r>
              <a:rPr lang="en-US" sz="900" dirty="0" err="1"/>
              <a:t>funcționat</a:t>
            </a:r>
            <a:r>
              <a:rPr lang="en-US" sz="900" dirty="0"/>
              <a:t>, </a:t>
            </a:r>
            <a:r>
              <a:rPr lang="en-US" sz="900" dirty="0" err="1"/>
              <a:t>ce</a:t>
            </a:r>
            <a:r>
              <a:rPr lang="en-US" sz="900" dirty="0"/>
              <a:t> a </a:t>
            </a:r>
            <a:r>
              <a:rPr lang="en-US" sz="900" dirty="0" err="1"/>
              <a:t>fost</a:t>
            </a:r>
            <a:r>
              <a:rPr lang="en-US" sz="900" dirty="0"/>
              <a:t> </a:t>
            </a:r>
            <a:r>
              <a:rPr lang="en-US" sz="900" dirty="0" err="1"/>
              <a:t>greu</a:t>
            </a:r>
            <a:r>
              <a:rPr lang="en-US" sz="900" dirty="0"/>
              <a:t> de </a:t>
            </a:r>
            <a:r>
              <a:rPr lang="en-US" sz="900" dirty="0" err="1"/>
              <a:t>spus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87184" y="1554480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AEEDA"/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0336" y="1572768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900" dirty="0" err="1"/>
              <a:t>Discuție</a:t>
            </a:r>
            <a:r>
              <a:rPr lang="en-US" sz="900" dirty="0"/>
              <a:t> cu </a:t>
            </a:r>
            <a:r>
              <a:rPr lang="en-US" sz="900" dirty="0" err="1"/>
              <a:t>managerul</a:t>
            </a:r>
            <a:r>
              <a:rPr lang="en-US" sz="900" dirty="0"/>
              <a:t> </a:t>
            </a:r>
            <a:r>
              <a:rPr lang="en-US" sz="900" dirty="0" err="1"/>
              <a:t>despre</a:t>
            </a:r>
            <a:r>
              <a:rPr lang="en-US" sz="900" dirty="0"/>
              <a:t> cum </a:t>
            </a:r>
            <a:r>
              <a:rPr lang="en-US" sz="900" dirty="0" err="1"/>
              <a:t>echipa</a:t>
            </a:r>
            <a:r>
              <a:rPr lang="en-US" sz="900" dirty="0"/>
              <a:t> a </a:t>
            </a:r>
            <a:r>
              <a:rPr lang="en-US" sz="900" dirty="0" err="1"/>
              <a:t>normalizat</a:t>
            </a:r>
            <a:r>
              <a:rPr lang="en-US" sz="900" dirty="0"/>
              <a:t> </a:t>
            </a:r>
            <a:r>
              <a:rPr lang="en-US" sz="900" dirty="0" err="1"/>
              <a:t>etapele</a:t>
            </a:r>
            <a:r>
              <a:rPr lang="en-US" sz="900" dirty="0"/>
              <a:t> </a:t>
            </a:r>
            <a:r>
              <a:rPr lang="en-US" sz="900" dirty="0" err="1"/>
              <a:t>schimbării</a:t>
            </a:r>
            <a:endParaRPr lang="en-US" sz="850" dirty="0">
              <a:solidFill>
                <a:srgbClr val="1C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0" y="2432304"/>
            <a:ext cx="301752" cy="82296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16200000">
            <a:off x="-130302" y="2398014"/>
            <a:ext cx="5623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7472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57400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5F4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30552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8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800" i="1" dirty="0">
                <a:solidFill>
                  <a:srgbClr val="7030A0"/>
                </a:solidFill>
              </a:rPr>
              <a:t>„Mi-am </a:t>
            </a:r>
            <a:r>
              <a:rPr lang="en-US" sz="800" i="1" dirty="0" err="1">
                <a:solidFill>
                  <a:srgbClr val="7030A0"/>
                </a:solidFill>
              </a:rPr>
              <a:t>dat</a:t>
            </a:r>
            <a:r>
              <a:rPr lang="en-US" sz="800" i="1" dirty="0">
                <a:solidFill>
                  <a:srgbClr val="7030A0"/>
                </a:solidFill>
              </a:rPr>
              <a:t> </a:t>
            </a:r>
            <a:r>
              <a:rPr lang="en-US" sz="800" i="1" dirty="0" err="1">
                <a:solidFill>
                  <a:srgbClr val="7030A0"/>
                </a:solidFill>
              </a:rPr>
              <a:t>seama</a:t>
            </a:r>
            <a:r>
              <a:rPr lang="en-US" sz="800" i="1" dirty="0">
                <a:solidFill>
                  <a:srgbClr val="7030A0"/>
                </a:solidFill>
              </a:rPr>
              <a:t> </a:t>
            </a:r>
            <a:r>
              <a:rPr lang="en-US" sz="800" i="1" dirty="0" err="1">
                <a:solidFill>
                  <a:srgbClr val="7030A0"/>
                </a:solidFill>
              </a:rPr>
              <a:t>că</a:t>
            </a:r>
            <a:r>
              <a:rPr lang="en-US" sz="800" i="1" dirty="0">
                <a:solidFill>
                  <a:srgbClr val="7030A0"/>
                </a:solidFill>
              </a:rPr>
              <a:t> </a:t>
            </a:r>
            <a:r>
              <a:rPr lang="en-US" sz="800" i="1" dirty="0" err="1">
                <a:solidFill>
                  <a:srgbClr val="7030A0"/>
                </a:solidFill>
              </a:rPr>
              <a:t>eu</a:t>
            </a:r>
            <a:r>
              <a:rPr lang="en-US" sz="800" i="1" dirty="0">
                <a:solidFill>
                  <a:srgbClr val="7030A0"/>
                </a:solidFill>
              </a:rPr>
              <a:t> sunt </a:t>
            </a:r>
            <a:r>
              <a:rPr lang="en-US" sz="800" i="1" dirty="0" err="1">
                <a:solidFill>
                  <a:srgbClr val="7030A0"/>
                </a:solidFill>
              </a:rPr>
              <a:t>în</a:t>
            </a:r>
            <a:r>
              <a:rPr lang="en-US" sz="800" i="1" dirty="0">
                <a:solidFill>
                  <a:srgbClr val="7030A0"/>
                </a:solidFill>
              </a:rPr>
              <a:t> survival, </a:t>
            </a:r>
            <a:r>
              <a:rPr lang="en-US" sz="800" i="1" dirty="0" err="1">
                <a:solidFill>
                  <a:srgbClr val="7030A0"/>
                </a:solidFill>
              </a:rPr>
              <a:t>dar</a:t>
            </a:r>
            <a:r>
              <a:rPr lang="en-US" sz="800" i="1" dirty="0">
                <a:solidFill>
                  <a:srgbClr val="7030A0"/>
                </a:solidFill>
              </a:rPr>
              <a:t> </a:t>
            </a:r>
            <a:r>
              <a:rPr lang="en-US" sz="800" i="1" dirty="0" err="1">
                <a:solidFill>
                  <a:srgbClr val="7030A0"/>
                </a:solidFill>
              </a:rPr>
              <a:t>doi</a:t>
            </a:r>
            <a:r>
              <a:rPr lang="en-US" sz="800" i="1" dirty="0">
                <a:solidFill>
                  <a:srgbClr val="7030A0"/>
                </a:solidFill>
              </a:rPr>
              <a:t> din </a:t>
            </a:r>
            <a:r>
              <a:rPr lang="en-US" sz="800" i="1" dirty="0" err="1">
                <a:solidFill>
                  <a:srgbClr val="7030A0"/>
                </a:solidFill>
              </a:rPr>
              <a:t>echipă</a:t>
            </a:r>
            <a:r>
              <a:rPr lang="en-US" sz="800" i="1" dirty="0">
                <a:solidFill>
                  <a:srgbClr val="7030A0"/>
                </a:solidFill>
              </a:rPr>
              <a:t> sunt </a:t>
            </a:r>
            <a:r>
              <a:rPr lang="en-US" sz="800" i="1" dirty="0" err="1">
                <a:solidFill>
                  <a:srgbClr val="7030A0"/>
                </a:solidFill>
              </a:rPr>
              <a:t>deja</a:t>
            </a:r>
            <a:r>
              <a:rPr lang="en-US" sz="800" i="1" dirty="0">
                <a:solidFill>
                  <a:srgbClr val="7030A0"/>
                </a:solidFill>
              </a:rPr>
              <a:t> </a:t>
            </a:r>
            <a:r>
              <a:rPr lang="en-US" sz="800" i="1" dirty="0" err="1">
                <a:solidFill>
                  <a:srgbClr val="7030A0"/>
                </a:solidFill>
              </a:rPr>
              <a:t>în</a:t>
            </a:r>
            <a:r>
              <a:rPr lang="en-US" sz="800" i="1" dirty="0">
                <a:solidFill>
                  <a:srgbClr val="7030A0"/>
                </a:solidFill>
              </a:rPr>
              <a:t> burnout — nu </a:t>
            </a:r>
            <a:r>
              <a:rPr lang="en-US" sz="800" i="1" dirty="0" err="1">
                <a:solidFill>
                  <a:srgbClr val="7030A0"/>
                </a:solidFill>
              </a:rPr>
              <a:t>știam</a:t>
            </a:r>
            <a:r>
              <a:rPr lang="en-US" sz="800" i="1" dirty="0">
                <a:solidFill>
                  <a:srgbClr val="7030A0"/>
                </a:solidFill>
              </a:rPr>
              <a:t>.”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767328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EDF8F4"/>
          </a:solidFill>
          <a:ln w="12700">
            <a:solidFill>
              <a:srgbClr val="5DCAA5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77256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DF3EE"/>
          </a:solidFill>
          <a:ln w="12700">
            <a:solidFill>
              <a:srgbClr val="F0997B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0408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"Colegii au observat că am transmis stresul mai departe fără să vreau."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87184" y="2450592"/>
            <a:ext cx="1664208" cy="786384"/>
          </a:xfrm>
          <a:prstGeom prst="roundRect">
            <a:avLst>
              <a:gd name="adj" fmla="val 6977"/>
            </a:avLst>
          </a:prstGeom>
          <a:solidFill>
            <a:srgbClr val="FEF8EF"/>
          </a:solidFill>
          <a:ln w="12700">
            <a:solidFill>
              <a:srgbClr val="EF9F27">
                <a:alpha val="80000"/>
              </a:srgbClr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60336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3328416"/>
            <a:ext cx="301752" cy="548640"/>
          </a:xfrm>
          <a:prstGeom prst="roundRect">
            <a:avLst>
              <a:gd name="adj" fmla="val 12121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 rot="16200000">
            <a:off x="-112014" y="3304794"/>
            <a:ext cx="516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0624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7030A0"/>
                </a:solidFill>
              </a:rPr>
              <a:t>Moment de </a:t>
            </a:r>
            <a:r>
              <a:rPr lang="en-US" sz="900" b="1" dirty="0" err="1">
                <a:solidFill>
                  <a:srgbClr val="7030A0"/>
                </a:solidFill>
              </a:rPr>
              <a:t>schimbare</a:t>
            </a:r>
            <a:r>
              <a:rPr lang="en-US" sz="900" b="1" dirty="0">
                <a:solidFill>
                  <a:srgbClr val="7030A0"/>
                </a:solidFill>
              </a:rPr>
              <a:t> </a:t>
            </a:r>
            <a:r>
              <a:rPr lang="en-US" sz="900" b="1" dirty="0" err="1">
                <a:solidFill>
                  <a:srgbClr val="7030A0"/>
                </a:solidFill>
              </a:rPr>
              <a:t>notat</a:t>
            </a:r>
            <a:endParaRPr lang="en-US" sz="900" b="1" dirty="0">
              <a:solidFill>
                <a:srgbClr val="7030A0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057400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EEDFE"/>
          </a:solidFill>
          <a:ln w="12700">
            <a:solidFill>
              <a:srgbClr val="AFA9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30552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 err="1">
                <a:solidFill>
                  <a:srgbClr val="7030A0"/>
                </a:solidFill>
              </a:rPr>
              <a:t>Hartă</a:t>
            </a:r>
            <a:r>
              <a:rPr lang="en-US" sz="900" b="1" dirty="0">
                <a:solidFill>
                  <a:srgbClr val="7030A0"/>
                </a:solidFill>
              </a:rPr>
              <a:t> </a:t>
            </a:r>
            <a:r>
              <a:rPr lang="en-US" sz="900" b="1" dirty="0" err="1">
                <a:solidFill>
                  <a:srgbClr val="7030A0"/>
                </a:solidFill>
              </a:rPr>
              <a:t>emoțională</a:t>
            </a:r>
            <a:r>
              <a:rPr lang="en-US" sz="900" b="1" dirty="0">
                <a:solidFill>
                  <a:srgbClr val="7030A0"/>
                </a:solidFill>
              </a:rPr>
              <a:t> </a:t>
            </a:r>
            <a:r>
              <a:rPr lang="en-US" sz="900" b="1" dirty="0" err="1">
                <a:solidFill>
                  <a:srgbClr val="7030A0"/>
                </a:solidFill>
              </a:rPr>
              <a:t>personală</a:t>
            </a:r>
            <a:r>
              <a:rPr lang="en-US" sz="900" b="1" dirty="0">
                <a:solidFill>
                  <a:srgbClr val="7030A0"/>
                </a:solidFill>
              </a:rPr>
              <a:t> </a:t>
            </a:r>
            <a:r>
              <a:rPr lang="en-US" sz="900" b="1" dirty="0" err="1">
                <a:solidFill>
                  <a:srgbClr val="7030A0"/>
                </a:solidFill>
              </a:rPr>
              <a:t>completată</a:t>
            </a:r>
            <a:endParaRPr lang="en-US" sz="900" b="1" dirty="0">
              <a:solidFill>
                <a:srgbClr val="7030A0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767328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E1F5EE"/>
          </a:solidFill>
          <a:ln w="12700">
            <a:solidFill>
              <a:srgbClr val="5DCA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0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Decizie documentată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learning review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simulări AI</a:t>
            </a:r>
          </a:p>
        </p:txBody>
      </p:sp>
      <p:sp>
        <p:nvSpPr>
          <p:cNvPr id="55" name="Shape 53"/>
          <p:cNvSpPr/>
          <p:nvPr/>
        </p:nvSpPr>
        <p:spPr>
          <a:xfrm>
            <a:off x="5477256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CE7"/>
          </a:solidFill>
          <a:ln w="12700">
            <a:solidFill>
              <a:srgbClr val="F0997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50408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C00000"/>
                </a:solidFill>
              </a:rPr>
              <a:t>Plan de </a:t>
            </a:r>
            <a:r>
              <a:rPr lang="en-US" sz="900" b="1" dirty="0" err="1">
                <a:solidFill>
                  <a:srgbClr val="C00000"/>
                </a:solidFill>
              </a:rPr>
              <a:t>reziliență</a:t>
            </a:r>
            <a:r>
              <a:rPr lang="en-US" sz="900" b="1" dirty="0">
                <a:solidFill>
                  <a:srgbClr val="C00000"/>
                </a:solidFill>
              </a:rPr>
              <a:t> </a:t>
            </a:r>
            <a:r>
              <a:rPr lang="en-US" sz="900" b="1" dirty="0" err="1">
                <a:solidFill>
                  <a:srgbClr val="C00000"/>
                </a:solidFill>
              </a:rPr>
              <a:t>discutat</a:t>
            </a:r>
            <a:r>
              <a:rPr lang="en-US" sz="900" b="1" dirty="0">
                <a:solidFill>
                  <a:srgbClr val="C00000"/>
                </a:solidFill>
              </a:rPr>
              <a:t> cu un </a:t>
            </a:r>
            <a:r>
              <a:rPr lang="en-US" sz="900" b="1" dirty="0" err="1">
                <a:solidFill>
                  <a:srgbClr val="C00000"/>
                </a:solidFill>
              </a:rPr>
              <a:t>coleg</a:t>
            </a:r>
            <a:endParaRPr lang="en-US" sz="900" b="1" dirty="0">
              <a:solidFill>
                <a:srgbClr val="C00000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187184" y="3346704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AEEDA"/>
          </a:solidFill>
          <a:ln w="12700">
            <a:solidFill>
              <a:srgbClr val="EF9F2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60336" y="336499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reziliență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 de manager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" y="3959352"/>
            <a:ext cx="8412480" cy="438912"/>
          </a:xfrm>
          <a:prstGeom prst="roundRect">
            <a:avLst>
              <a:gd name="adj" fmla="val 14583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3959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 cheie: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workshop-ul nu e evenimentul principal —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decizia reală luată sub presiune </a:t>
            </a: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evenimentul principal. Peer coaching există ca să înveți </a:t>
            </a:r>
            <a:r>
              <a:rPr lang="en-US" sz="1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ce s-a întâmplat real.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554480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Pregătire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61488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44368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51376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334256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Practică+AI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41264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CE7"/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724144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31152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AEEDA"/>
          </a:solidFill>
          <a:ln w="12700">
            <a:solidFill>
              <a:srgbClr val="BA75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14032" y="44714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coaching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2600" b="1" dirty="0">
                <a:solidFill>
                  <a:srgbClr val="FFFFFF"/>
                </a:solidFill>
                <a:latin typeface="Calibri" pitchFamily="34" charset="0"/>
              </a:rPr>
              <a:t>Obiective de învățare &amp; livrabile — criterii de evaluare</a:t>
            </a:r>
          </a:p>
        </p:txBody>
      </p:sp>
      <p:sp>
        <p:nvSpPr>
          <p:cNvPr id="51" name="Subtitle"/>
          <p:cNvSpPr/>
          <p:nvPr/>
        </p:nvSpPr>
        <p:spPr>
          <a:xfrm>
            <a:off x="457200" y="750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300" dirty="0">
                <a:solidFill>
                  <a:srgbClr val="AAAACC"/>
                </a:solidFill>
                <a:latin typeface="Calibri" pitchFamily="34" charset="0"/>
              </a:rPr>
              <a:t>Ce poate face participantul la finalul modulului — și cum se verifică</a:t>
            </a:r>
          </a:p>
        </p:txBody>
      </p:sp>
      <p:sp>
        <p:nvSpPr>
          <p:cNvPr id="501" name="Card M1"/>
          <p:cNvSpPr/>
          <p:nvPr/>
        </p:nvSpPr>
        <p:spPr>
          <a:xfrm>
            <a:off x="457200" y="1080000"/>
            <a:ext cx="8229600" cy="930000"/>
          </a:xfrm>
          <a:prstGeom prst="roundRect">
            <a:avLst>
              <a:gd name="adj" fmla="val 6000"/>
            </a:avLst>
          </a:prstGeom>
          <a:solidFill>
            <a:srgbClr val="534AB7">
              <a:alpha val="10000"/>
            </a:srgbClr>
          </a:solidFill>
          <a:ln w="12700">
            <a:solidFill>
              <a:srgbClr val="534AB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02" name="Badge M1"/>
          <p:cNvSpPr/>
          <p:nvPr/>
        </p:nvSpPr>
        <p:spPr>
          <a:xfrm>
            <a:off x="548640" y="1170000"/>
            <a:ext cx="420000" cy="4200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M1</a:t>
            </a:r>
          </a:p>
        </p:txBody>
      </p:sp>
      <p:sp>
        <p:nvSpPr>
          <p:cNvPr id="503" name="Name M1"/>
          <p:cNvSpPr/>
          <p:nvPr/>
        </p:nvSpPr>
        <p:spPr>
          <a:xfrm>
            <a:off x="378640" y="1610000"/>
            <a:ext cx="7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750" b="1" dirty="0">
                <a:solidFill>
                  <a:srgbClr val="534AB7"/>
                </a:solidFill>
                <a:latin typeface="Calibri" pitchFamily="34" charset="0"/>
              </a:rPr>
              <a:t>Noul rol</a:t>
            </a:r>
          </a:p>
        </p:txBody>
      </p:sp>
      <p:sp>
        <p:nvSpPr>
          <p:cNvPr id="504" name="Col M1 Obiectiv de învățare"/>
          <p:cNvSpPr/>
          <p:nvPr/>
        </p:nvSpPr>
        <p:spPr>
          <a:xfrm>
            <a:off x="1150000" y="1150000"/>
            <a:ext cx="19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OBIECTIV DE ÎNVĂȚARE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FFFFFF"/>
                </a:solidFill>
                <a:latin typeface="Calibri" pitchFamily="34" charset="0"/>
              </a:rPr>
              <a:t>Poate numi ce se schimbă în rolul său și își recunoaște tiparele de reacție.</a:t>
            </a:r>
          </a:p>
        </p:txBody>
      </p:sp>
      <p:sp>
        <p:nvSpPr>
          <p:cNvPr id="505" name="Col M1 Livrabil (la nivel de echipă)"/>
          <p:cNvSpPr/>
          <p:nvPr/>
        </p:nvSpPr>
        <p:spPr>
          <a:xfrm>
            <a:off x="3200000" y="1150000"/>
            <a:ext cx="24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LIVRABIL (LA NIVEL DE ECHIPĂ)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CCCCEE"/>
                </a:solidFill>
                <a:latin typeface="Calibri" pitchFamily="34" charset="0"/>
              </a:rPr>
              <a:t>Plan de tranziție (90 zile) + prima ședință de echipă, cu așteptări formulate explicit.</a:t>
            </a:r>
          </a:p>
        </p:txBody>
      </p:sp>
      <p:sp>
        <p:nvSpPr>
          <p:cNvPr id="506" name="Col M1 Criteriu de evaluare"/>
          <p:cNvSpPr/>
          <p:nvPr/>
        </p:nvSpPr>
        <p:spPr>
          <a:xfrm>
            <a:off x="5750000" y="1150000"/>
            <a:ext cx="283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CRITERIU DE EVALUARE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9FE1CB"/>
                </a:solidFill>
                <a:latin typeface="Calibri" pitchFamily="34" charset="0"/>
              </a:rPr>
              <a:t>Echipa poate numi 2–3 așteptări clare formulate de manager (verificat de N+1).</a:t>
            </a:r>
          </a:p>
        </p:txBody>
      </p:sp>
      <p:sp>
        <p:nvSpPr>
          <p:cNvPr id="507" name="Card M2"/>
          <p:cNvSpPr/>
          <p:nvPr/>
        </p:nvSpPr>
        <p:spPr>
          <a:xfrm>
            <a:off x="457200" y="2070000"/>
            <a:ext cx="8229600" cy="930000"/>
          </a:xfrm>
          <a:prstGeom prst="roundRect">
            <a:avLst>
              <a:gd name="adj" fmla="val 6000"/>
            </a:avLst>
          </a:prstGeom>
          <a:solidFill>
            <a:srgbClr val="0F6E56">
              <a:alpha val="10000"/>
            </a:srgbClr>
          </a:solidFill>
          <a:ln w="12700">
            <a:solidFill>
              <a:srgbClr val="0F6E5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08" name="Badge M2"/>
          <p:cNvSpPr/>
          <p:nvPr/>
        </p:nvSpPr>
        <p:spPr>
          <a:xfrm>
            <a:off x="548640" y="2160000"/>
            <a:ext cx="420000" cy="42000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M2</a:t>
            </a:r>
          </a:p>
        </p:txBody>
      </p:sp>
      <p:sp>
        <p:nvSpPr>
          <p:cNvPr id="509" name="Name M2"/>
          <p:cNvSpPr/>
          <p:nvPr/>
        </p:nvSpPr>
        <p:spPr>
          <a:xfrm>
            <a:off x="378640" y="2600000"/>
            <a:ext cx="7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750" b="1" dirty="0">
                <a:solidFill>
                  <a:srgbClr val="0F6E56"/>
                </a:solidFill>
                <a:latin typeface="Calibri" pitchFamily="34" charset="0"/>
              </a:rPr>
              <a:t>Oamenii</a:t>
            </a:r>
          </a:p>
        </p:txBody>
      </p:sp>
      <p:sp>
        <p:nvSpPr>
          <p:cNvPr id="510" name="Col M2 Obiectiv de învățare"/>
          <p:cNvSpPr/>
          <p:nvPr/>
        </p:nvSpPr>
        <p:spPr>
          <a:xfrm>
            <a:off x="1150000" y="2140000"/>
            <a:ext cx="19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OBIECTIV DE ÎNVĂȚARE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FFFFFF"/>
                </a:solidFill>
                <a:latin typeface="Calibri" pitchFamily="34" charset="0"/>
              </a:rPr>
              <a:t>Poate formula ipoteze despre ce îi motivează și ce îi blochează pe oamenii săi.</a:t>
            </a:r>
          </a:p>
        </p:txBody>
      </p:sp>
      <p:sp>
        <p:nvSpPr>
          <p:cNvPr id="511" name="Col M2 Livrabil (la nivel de echipă)"/>
          <p:cNvSpPr/>
          <p:nvPr/>
        </p:nvSpPr>
        <p:spPr>
          <a:xfrm>
            <a:off x="3200000" y="2140000"/>
            <a:ext cx="24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LIVRABIL (LA NIVEL DE ECHIPĂ)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CCCCEE"/>
                </a:solidFill>
                <a:latin typeface="Calibri" pitchFamily="34" charset="0"/>
              </a:rPr>
              <a:t>Două conversații 1:1 documentate, cu oameni diferiți din echipă.</a:t>
            </a:r>
          </a:p>
        </p:txBody>
      </p:sp>
      <p:sp>
        <p:nvSpPr>
          <p:cNvPr id="512" name="Col M2 Criteriu de evaluare"/>
          <p:cNvSpPr/>
          <p:nvPr/>
        </p:nvSpPr>
        <p:spPr>
          <a:xfrm>
            <a:off x="5750000" y="2140000"/>
            <a:ext cx="283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CRITERIU DE EVALUARE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9FE1CB"/>
                </a:solidFill>
                <a:latin typeface="Calibri" pitchFamily="34" charset="0"/>
              </a:rPr>
              <a:t>Ambele persoane confirmă că au fost ascultate și că a rezultat un pas concret.</a:t>
            </a:r>
          </a:p>
        </p:txBody>
      </p:sp>
      <p:sp>
        <p:nvSpPr>
          <p:cNvPr id="513" name="Card M3"/>
          <p:cNvSpPr/>
          <p:nvPr/>
        </p:nvSpPr>
        <p:spPr>
          <a:xfrm>
            <a:off x="457200" y="3060000"/>
            <a:ext cx="8229600" cy="930000"/>
          </a:xfrm>
          <a:prstGeom prst="roundRect">
            <a:avLst>
              <a:gd name="adj" fmla="val 6000"/>
            </a:avLst>
          </a:prstGeom>
          <a:solidFill>
            <a:srgbClr val="D85A30">
              <a:alpha val="10000"/>
            </a:srgbClr>
          </a:solidFill>
          <a:ln w="12700">
            <a:solidFill>
              <a:srgbClr val="D85A3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14" name="Badge M3"/>
          <p:cNvSpPr/>
          <p:nvPr/>
        </p:nvSpPr>
        <p:spPr>
          <a:xfrm>
            <a:off x="548640" y="3150000"/>
            <a:ext cx="420000" cy="42000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M3</a:t>
            </a:r>
          </a:p>
        </p:txBody>
      </p:sp>
      <p:sp>
        <p:nvSpPr>
          <p:cNvPr id="515" name="Name M3"/>
          <p:cNvSpPr/>
          <p:nvPr/>
        </p:nvSpPr>
        <p:spPr>
          <a:xfrm>
            <a:off x="378640" y="3590000"/>
            <a:ext cx="7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750" b="1" dirty="0">
                <a:solidFill>
                  <a:srgbClr val="D85A30"/>
                </a:solidFill>
                <a:latin typeface="Calibri" pitchFamily="34" charset="0"/>
              </a:rPr>
              <a:t>Performanța</a:t>
            </a:r>
          </a:p>
        </p:txBody>
      </p:sp>
      <p:sp>
        <p:nvSpPr>
          <p:cNvPr id="516" name="Col M3 Obiectiv de învățare"/>
          <p:cNvSpPr/>
          <p:nvPr/>
        </p:nvSpPr>
        <p:spPr>
          <a:xfrm>
            <a:off x="1150000" y="3130000"/>
            <a:ext cx="19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OBIECTIV DE ÎNVĂȚARE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FFFFFF"/>
                </a:solidFill>
                <a:latin typeface="Calibri" pitchFamily="34" charset="0"/>
              </a:rPr>
              <a:t>Poate traduce așteptările în obiective clare și le poate susține prin feedback.</a:t>
            </a:r>
          </a:p>
        </p:txBody>
      </p:sp>
      <p:sp>
        <p:nvSpPr>
          <p:cNvPr id="517" name="Col M3 Livrabil (la nivel de echipă)"/>
          <p:cNvSpPr/>
          <p:nvPr/>
        </p:nvSpPr>
        <p:spPr>
          <a:xfrm>
            <a:off x="3200000" y="3130000"/>
            <a:ext cx="24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LIVRABIL (LA NIVEL DE ECHIPĂ)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CCCCEE"/>
                </a:solidFill>
                <a:latin typeface="Calibri" pitchFamily="34" charset="0"/>
              </a:rPr>
              <a:t>OKR de echipă pentru trimestrul următor, validat de manager + o sarcină delegată, cu follow-up stabilit.</a:t>
            </a:r>
          </a:p>
        </p:txBody>
      </p:sp>
      <p:sp>
        <p:nvSpPr>
          <p:cNvPr id="518" name="Col M3 Criteriu de evaluare"/>
          <p:cNvSpPr/>
          <p:nvPr/>
        </p:nvSpPr>
        <p:spPr>
          <a:xfrm>
            <a:off x="5750000" y="3130000"/>
            <a:ext cx="283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CRITERIU DE EVALUARE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9FE1CB"/>
                </a:solidFill>
                <a:latin typeface="Calibri" pitchFamily="34" charset="0"/>
              </a:rPr>
              <a:t>Fiecare membru își cunoaște prioritățile (pulse-check); persoana delegată confirmă claritatea.</a:t>
            </a:r>
          </a:p>
        </p:txBody>
      </p:sp>
      <p:sp>
        <p:nvSpPr>
          <p:cNvPr id="519" name="Card M4"/>
          <p:cNvSpPr/>
          <p:nvPr/>
        </p:nvSpPr>
        <p:spPr>
          <a:xfrm>
            <a:off x="457200" y="4050000"/>
            <a:ext cx="8229600" cy="930000"/>
          </a:xfrm>
          <a:prstGeom prst="roundRect">
            <a:avLst>
              <a:gd name="adj" fmla="val 6000"/>
            </a:avLst>
          </a:prstGeom>
          <a:solidFill>
            <a:srgbClr val="BA7517">
              <a:alpha val="10000"/>
            </a:srgbClr>
          </a:solidFill>
          <a:ln w="12700">
            <a:solidFill>
              <a:srgbClr val="BA751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20" name="Badge M4"/>
          <p:cNvSpPr/>
          <p:nvPr/>
        </p:nvSpPr>
        <p:spPr>
          <a:xfrm>
            <a:off x="548640" y="4140000"/>
            <a:ext cx="420000" cy="42000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dirty="0">
                <a:solidFill>
                  <a:srgbClr val="FFFFFF"/>
                </a:solidFill>
                <a:latin typeface="Calibri" pitchFamily="34" charset="0"/>
              </a:rPr>
              <a:t>M4</a:t>
            </a:r>
          </a:p>
        </p:txBody>
      </p:sp>
      <p:sp>
        <p:nvSpPr>
          <p:cNvPr id="521" name="Name M4"/>
          <p:cNvSpPr/>
          <p:nvPr/>
        </p:nvSpPr>
        <p:spPr>
          <a:xfrm>
            <a:off x="378640" y="4580000"/>
            <a:ext cx="7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BA7517"/>
                </a:solidFill>
                <a:latin typeface="Calibri" pitchFamily="34" charset="0"/>
              </a:rPr>
              <a:t>Schimbarea</a:t>
            </a:r>
            <a:endParaRPr lang="ro-RO" sz="750" b="1" dirty="0">
              <a:solidFill>
                <a:srgbClr val="BA7517"/>
              </a:solidFill>
              <a:latin typeface="Calibri" pitchFamily="34" charset="0"/>
            </a:endParaRPr>
          </a:p>
        </p:txBody>
      </p:sp>
      <p:sp>
        <p:nvSpPr>
          <p:cNvPr id="522" name="Col M4 Obiectiv de învățare"/>
          <p:cNvSpPr/>
          <p:nvPr/>
        </p:nvSpPr>
        <p:spPr>
          <a:xfrm>
            <a:off x="1150000" y="4120000"/>
            <a:ext cx="19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OBIECTIV DE ÎNVĂȚARE</a:t>
            </a:r>
          </a:p>
          <a:p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Recunoaste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dimensiunea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emotionala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propie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a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echipei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o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transforma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in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directie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si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 </a:t>
            </a:r>
            <a:r>
              <a:rPr lang="en-US" sz="1000" i="1" dirty="0" err="1">
                <a:solidFill>
                  <a:srgbClr val="AAAACC"/>
                </a:solidFill>
                <a:latin typeface="Calibri" pitchFamily="34" charset="0"/>
              </a:rPr>
              <a:t>rezilienta</a:t>
            </a:r>
            <a:r>
              <a:rPr lang="en-US" sz="1000" i="1" dirty="0">
                <a:solidFill>
                  <a:srgbClr val="AAAACC"/>
                </a:solidFill>
                <a:latin typeface="Calibri" pitchFamily="34" charset="0"/>
              </a:rPr>
              <a:t>.</a:t>
            </a:r>
            <a:endParaRPr lang="ro-RO" sz="1000" i="1" dirty="0">
              <a:solidFill>
                <a:srgbClr val="AAAACC"/>
              </a:solidFill>
              <a:latin typeface="Calibri" pitchFamily="34" charset="0"/>
            </a:endParaRPr>
          </a:p>
        </p:txBody>
      </p:sp>
      <p:sp>
        <p:nvSpPr>
          <p:cNvPr id="523" name="Col M4 Livrabil (la nivel de echipă)"/>
          <p:cNvSpPr/>
          <p:nvPr/>
        </p:nvSpPr>
        <p:spPr>
          <a:xfrm>
            <a:off x="3200000" y="4120000"/>
            <a:ext cx="245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LIVRABIL (LA NIVEL DE ECHIPĂ)</a:t>
            </a:r>
          </a:p>
          <a:p>
            <a:r>
              <a:rPr lang="en-US" sz="95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 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Hartă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emoțională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a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echipei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discutată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deschis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+ 2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acțiuni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de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reziliență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95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convenite</a:t>
            </a:r>
            <a:r>
              <a:rPr lang="en-US" sz="9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validate de N+1.</a:t>
            </a:r>
          </a:p>
        </p:txBody>
      </p:sp>
      <p:sp>
        <p:nvSpPr>
          <p:cNvPr id="524" name="Col M4 Criteriu de evaluare"/>
          <p:cNvSpPr/>
          <p:nvPr/>
        </p:nvSpPr>
        <p:spPr>
          <a:xfrm>
            <a:off x="5750000" y="4120000"/>
            <a:ext cx="283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o-RO" sz="800" b="1" dirty="0">
                <a:solidFill>
                  <a:srgbClr val="777799"/>
                </a:solidFill>
                <a:latin typeface="Calibri" pitchFamily="34" charset="0"/>
              </a:rPr>
              <a:t>CRITERIU DE EVALUARE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ro-RO" sz="950" dirty="0">
                <a:solidFill>
                  <a:srgbClr val="9FE1CB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10517</TotalTime>
  <Words>1807</Words>
  <Application>Microsoft Office PowerPoint</Application>
  <PresentationFormat>On-screen Show (16:9)</PresentationFormat>
  <Paragraphs>295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Ionela Chirila</cp:lastModifiedBy>
  <cp:revision>19</cp:revision>
  <cp:lastPrinted>2026-07-31T12:24:56Z</cp:lastPrinted>
  <dcterms:created xsi:type="dcterms:W3CDTF">2026-06-28T20:50:48Z</dcterms:created>
  <dcterms:modified xsi:type="dcterms:W3CDTF">2026-08-10T14:39:35Z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765b93-c40a-4da6-86c3-1c24cd70b6da_Enabled">
    <vt:lpwstr>true</vt:lpwstr>
  </property>
  <property fmtid="{D5CDD505-2E9C-101B-9397-08002B2CF9AE}" pid="3" name="MSIP_Label_74765b93-c40a-4da6-86c3-1c24cd70b6da_SetDate">
    <vt:lpwstr>2026-06-29T13:01:46Z</vt:lpwstr>
  </property>
  <property fmtid="{D5CDD505-2E9C-101B-9397-08002B2CF9AE}" pid="4" name="MSIP_Label_74765b93-c40a-4da6-86c3-1c24cd70b6da_Method">
    <vt:lpwstr>Standard</vt:lpwstr>
  </property>
  <property fmtid="{D5CDD505-2E9C-101B-9397-08002B2CF9AE}" pid="5" name="MSIP_Label_74765b93-c40a-4da6-86c3-1c24cd70b6da_Name">
    <vt:lpwstr>BT Uz Intern</vt:lpwstr>
  </property>
  <property fmtid="{D5CDD505-2E9C-101B-9397-08002B2CF9AE}" pid="6" name="MSIP_Label_74765b93-c40a-4da6-86c3-1c24cd70b6da_SiteId">
    <vt:lpwstr>3b6020de-d68c-4aba-832c-890282843c3d</vt:lpwstr>
  </property>
  <property fmtid="{D5CDD505-2E9C-101B-9397-08002B2CF9AE}" pid="7" name="MSIP_Label_74765b93-c40a-4da6-86c3-1c24cd70b6da_ActionId">
    <vt:lpwstr>bd349c63-33e0-438e-ba54-ac97e267044f</vt:lpwstr>
  </property>
  <property fmtid="{D5CDD505-2E9C-101B-9397-08002B2CF9AE}" pid="8" name="MSIP_Label_74765b93-c40a-4da6-86c3-1c24cd70b6da_ContentBits">
    <vt:lpwstr>2</vt:lpwstr>
  </property>
  <property fmtid="{D5CDD505-2E9C-101B-9397-08002B2CF9AE}" pid="9" name="MSIP_Label_74765b93-c40a-4da6-86c3-1c24cd70b6da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Clasificare: Uz Intern</vt:lpwstr>
  </property>
</Properties>
</file>